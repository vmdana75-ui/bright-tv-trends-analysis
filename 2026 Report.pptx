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nton" charset="1" panose="00000500000000000000"/>
      <p:regular r:id="rId12"/>
    </p:embeddedFont>
    <p:embeddedFont>
      <p:font typeface="Montserrat Bold" charset="1" panose="00000800000000000000"/>
      <p:regular r:id="rId13"/>
    </p:embeddedFont>
    <p:embeddedFont>
      <p:font typeface="Montserrat" charset="1" panose="00000500000000000000"/>
      <p:regular r:id="rId14"/>
    </p:embeddedFont>
    <p:embeddedFont>
      <p:font typeface="Canva Sans" charset="1" panose="020B0503030501040103"/>
      <p:regular r:id="rId15"/>
    </p:embeddedFont>
    <p:embeddedFont>
      <p:font typeface="Open Sans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57611" y="-1286368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15073" y="256682"/>
            <a:ext cx="15989576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456"/>
              </a:lnSpc>
            </a:pPr>
            <a:r>
              <a:rPr lang="en-US" sz="1204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BRIGHT TV TREND ANALYSIS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43479" y="690861"/>
            <a:ext cx="1191540" cy="119154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241813" y="8802151"/>
            <a:ext cx="3086100" cy="30861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41813" y="8440825"/>
            <a:ext cx="1191540" cy="119154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8916" y="9058516"/>
            <a:ext cx="399568" cy="39956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546415" y="1979144"/>
            <a:ext cx="712885" cy="71288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31883" y="2335587"/>
            <a:ext cx="3438827" cy="737246"/>
            <a:chOff x="0" y="0"/>
            <a:chExt cx="1895622" cy="406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95622" cy="406400"/>
            </a:xfrm>
            <a:custGeom>
              <a:avLst/>
              <a:gdLst/>
              <a:ahLst/>
              <a:cxnLst/>
              <a:rect r="r" b="b" t="t" l="l"/>
              <a:pathLst>
                <a:path h="406400" w="1895622">
                  <a:moveTo>
                    <a:pt x="1692422" y="0"/>
                  </a:moveTo>
                  <a:cubicBezTo>
                    <a:pt x="1804646" y="0"/>
                    <a:pt x="1895622" y="90976"/>
                    <a:pt x="1895622" y="203200"/>
                  </a:cubicBezTo>
                  <a:cubicBezTo>
                    <a:pt x="1895622" y="315424"/>
                    <a:pt x="1804646" y="406400"/>
                    <a:pt x="169242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895622" cy="454025"/>
            </a:xfrm>
            <a:prstGeom prst="rect">
              <a:avLst/>
            </a:prstGeom>
          </p:spPr>
          <p:txBody>
            <a:bodyPr anchor="ctr" rtlCol="false" tIns="31690" lIns="31690" bIns="31690" rIns="3169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728489" y="2473425"/>
            <a:ext cx="3100763" cy="413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34"/>
              </a:lnSpc>
            </a:pPr>
            <a:r>
              <a:rPr lang="en-US" b="true" sz="245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2026  Q1 Report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0" y="3714087"/>
            <a:ext cx="7602040" cy="141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0"/>
              </a:lnSpc>
            </a:pPr>
            <a:r>
              <a:rPr lang="en-US" sz="270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This report Displays the viewership trends analysis of the first quarter of this year</a:t>
            </a:r>
          </a:p>
          <a:p>
            <a:pPr algn="ctr">
              <a:lnSpc>
                <a:spcPts val="3790"/>
              </a:lnSpc>
              <a:spcBef>
                <a:spcPct val="0"/>
              </a:spcBef>
            </a:pPr>
            <a:r>
              <a:rPr lang="en-US" sz="270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which is Jan- Mar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5439" y="5494782"/>
            <a:ext cx="6793091" cy="2182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45"/>
              </a:lnSpc>
            </a:pPr>
            <a:r>
              <a:rPr lang="en-US" sz="181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analysis will be showcasing mainly:</a:t>
            </a:r>
          </a:p>
          <a:p>
            <a:pPr algn="l" marL="785019" indent="-261673" lvl="2">
              <a:lnSpc>
                <a:spcPts val="2545"/>
              </a:lnSpc>
              <a:buFont typeface="Arial"/>
              <a:buChar char="⚬"/>
            </a:pPr>
            <a:r>
              <a:rPr lang="en-US" sz="181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most viewed channels</a:t>
            </a:r>
          </a:p>
          <a:p>
            <a:pPr algn="l" marL="785019" indent="-261673" lvl="2">
              <a:lnSpc>
                <a:spcPts val="2545"/>
              </a:lnSpc>
              <a:buFont typeface="Arial"/>
              <a:buChar char="⚬"/>
            </a:pPr>
            <a:r>
              <a:rPr lang="en-US" sz="181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Hourly Viewership</a:t>
            </a:r>
          </a:p>
          <a:p>
            <a:pPr algn="l" marL="785019" indent="-261673" lvl="2">
              <a:lnSpc>
                <a:spcPts val="2545"/>
              </a:lnSpc>
              <a:buFont typeface="Arial"/>
              <a:buChar char="⚬"/>
            </a:pPr>
            <a:r>
              <a:rPr lang="en-US" sz="181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Time viewership segments</a:t>
            </a:r>
          </a:p>
          <a:p>
            <a:pPr algn="l" marL="785019" indent="-261673" lvl="2">
              <a:lnSpc>
                <a:spcPts val="2545"/>
              </a:lnSpc>
              <a:buFont typeface="Arial"/>
              <a:buChar char="⚬"/>
            </a:pPr>
            <a:r>
              <a:rPr lang="en-US" sz="181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Amount of Subscribers by Province</a:t>
            </a:r>
          </a:p>
          <a:p>
            <a:pPr algn="l" marL="785019" indent="-261673" lvl="2">
              <a:lnSpc>
                <a:spcPts val="2545"/>
              </a:lnSpc>
              <a:buFont typeface="Arial"/>
              <a:buChar char="⚬"/>
            </a:pPr>
            <a:r>
              <a:rPr lang="en-US" sz="181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Subscribers by Gender and Race</a:t>
            </a:r>
          </a:p>
          <a:p>
            <a:pPr algn="l" marL="785019" indent="-261673" lvl="2">
              <a:lnSpc>
                <a:spcPts val="2545"/>
              </a:lnSpc>
              <a:buFont typeface="Arial"/>
              <a:buChar char="⚬"/>
            </a:pPr>
            <a:r>
              <a:rPr lang="en-US" sz="181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will be concluded with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22949" y="8925787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25378" y="690861"/>
            <a:ext cx="9001995" cy="1165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01"/>
              </a:lnSpc>
            </a:pPr>
            <a:r>
              <a:rPr lang="en-US" sz="7668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MOST VIEWED CHANNELS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299984"/>
            <a:ext cx="8568037" cy="3491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2403" indent="-201202" lvl="1">
              <a:lnSpc>
                <a:spcPts val="3168"/>
              </a:lnSpc>
              <a:buFont typeface="Arial"/>
              <a:buChar char="•"/>
            </a:pPr>
            <a:r>
              <a:rPr lang="en-US" sz="1863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Supersport Live Events came out on top of the most viewed content. this shows that a large number of South African appreciate Live Sporting Events.</a:t>
            </a:r>
          </a:p>
          <a:p>
            <a:pPr algn="l" marL="402403" indent="-201202" lvl="1">
              <a:lnSpc>
                <a:spcPts val="3168"/>
              </a:lnSpc>
              <a:buFont typeface="Arial"/>
              <a:buChar char="•"/>
            </a:pPr>
            <a:r>
              <a:rPr lang="en-US" sz="1863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Second in place is Channel O, which is a music channel. This shows that a large South Africans appreciate music.</a:t>
            </a:r>
          </a:p>
          <a:p>
            <a:pPr algn="l" marL="402403" indent="-201202" lvl="1">
              <a:lnSpc>
                <a:spcPts val="3168"/>
              </a:lnSpc>
              <a:buFont typeface="Arial"/>
              <a:buChar char="•"/>
            </a:pPr>
            <a:r>
              <a:rPr lang="en-US" sz="1863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Supersports Blitz came out third, Supersports Blitz showcases highlights of sporting events, which shows many South Africans value their time and prefer to watch summarized matches and games</a:t>
            </a:r>
          </a:p>
          <a:p>
            <a:pPr algn="l" marL="0" indent="0" lvl="0">
              <a:lnSpc>
                <a:spcPts val="3168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-1357611" y="-1286368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43479" y="690861"/>
            <a:ext cx="1191540" cy="119154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724263" y="1135856"/>
            <a:ext cx="997371" cy="99737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163956" y="1056374"/>
            <a:ext cx="8220800" cy="89202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22949" y="8925787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25019" y="390525"/>
            <a:ext cx="14237963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09"/>
              </a:lnSpc>
            </a:pPr>
            <a:r>
              <a:rPr lang="en-US" sz="8258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HOURLY VIEWERSHIP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30383" y="2253462"/>
            <a:ext cx="7227234" cy="1132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2594" indent="-196297" lvl="1">
              <a:lnSpc>
                <a:spcPts val="3091"/>
              </a:lnSpc>
              <a:buFont typeface="Arial"/>
              <a:buChar char="•"/>
            </a:pPr>
            <a:r>
              <a:rPr lang="en-US" sz="1818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The time of the day which has the most viewers is 3pm which consists of 38.8% of viewers and the time which has the least viewership is 2am which is 11.6% of viewers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1357611" y="-1286368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43479" y="690861"/>
            <a:ext cx="1191540" cy="119154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368262" y="4036256"/>
            <a:ext cx="9308857" cy="5665269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639" y="3900663"/>
            <a:ext cx="8172734" cy="64302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22949" y="8925787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25019" y="390525"/>
            <a:ext cx="14237963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09"/>
              </a:lnSpc>
            </a:pPr>
            <a:r>
              <a:rPr lang="en-US" sz="8258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SUBSCRIBERS BY PROVINCE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30383" y="2253462"/>
            <a:ext cx="7227234" cy="1522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1818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In terms of provincial subscribers, Guatains contains the most amount of subscribers nationally which is 1704 over the past 3 months which is almost double the amout of subscribers in the Western Cape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1357611" y="-1286368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43479" y="690861"/>
            <a:ext cx="1191540" cy="119154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643689" y="3189754"/>
            <a:ext cx="7724266" cy="6120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72279" y="3185476"/>
            <a:ext cx="10518806" cy="74130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22949" y="8925787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25019" y="390525"/>
            <a:ext cx="14237963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09"/>
              </a:lnSpc>
            </a:pPr>
            <a:r>
              <a:rPr lang="en-US" sz="8258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SUBSCRIBERS BY GENDER AND RACE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0927" y="2393286"/>
            <a:ext cx="7227234" cy="1522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1818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BrighTV consits of 76% of Males who are overall subscribers , follwowed by females which consits of 10.4% of Bright TV Subscribers. The unspecified demographics are those who do not officially identify as either gender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1357611" y="-1286368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43479" y="690861"/>
            <a:ext cx="1191540" cy="119154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05468" y="3780610"/>
            <a:ext cx="6276253" cy="5668198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96912" y="3721564"/>
            <a:ext cx="7272076" cy="581023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9329435" y="2192944"/>
            <a:ext cx="7227234" cy="1913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1818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The Black races makes up 35.2&amp;% of BrightTV subscribers, which ,makes them the majority of subscribers, what is alarmig is the 21% of subscribers which make up the second highest percentage of subscribers do not specify as any race. Inidians are just devided by 0.1%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80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22949" y="8925787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25019" y="390525"/>
            <a:ext cx="14237963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09"/>
              </a:lnSpc>
            </a:pPr>
            <a:r>
              <a:rPr lang="en-US" sz="8258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RECOMMENDATIONS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50166" y="2908838"/>
            <a:ext cx="13931684" cy="442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8865" indent="-249433" lvl="1">
              <a:lnSpc>
                <a:spcPts val="3928"/>
              </a:lnSpc>
              <a:buFont typeface="Arial"/>
              <a:buChar char="•"/>
            </a:pPr>
            <a:r>
              <a:rPr lang="en-US" sz="231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One of the biggest take-aways from the trend analysis is that females suscribers are 3 times less than those their male counter-parts, so it would be wise to introduce content  which caters to females, such as Real Housewives and Love Island and Romantic Comedy Movies/Series</a:t>
            </a:r>
          </a:p>
          <a:p>
            <a:pPr algn="l" marL="498865" indent="-249433" lvl="1">
              <a:lnSpc>
                <a:spcPts val="3928"/>
              </a:lnSpc>
              <a:buFont typeface="Arial"/>
              <a:buChar char="•"/>
            </a:pPr>
            <a:r>
              <a:rPr lang="en-US" sz="231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TV  shows which have the least amout of views should be allocated to timeslots with the least amout of viewers present</a:t>
            </a:r>
          </a:p>
          <a:p>
            <a:pPr algn="l" marL="498865" indent="-249433" lvl="1">
              <a:lnSpc>
                <a:spcPts val="3928"/>
              </a:lnSpc>
              <a:buFont typeface="Arial"/>
              <a:buChar char="•"/>
            </a:pPr>
            <a:r>
              <a:rPr lang="en-US" sz="231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For provinces with the least amount of viewers such as Free State, Northern Cape and the North West, it would be a good idea to have roadshows in the major towns of those arears which consists of sporting events, seeing that a large amount of subscribers view sport and music the most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1357611" y="-1286368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43479" y="690861"/>
            <a:ext cx="1191540" cy="119154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DAHHVd85icU</dc:identifier>
  <dcterms:modified xsi:type="dcterms:W3CDTF">2011-08-01T06:04:30Z</dcterms:modified>
  <cp:revision>1</cp:revision>
  <dc:title>2024 Report</dc:title>
</cp:coreProperties>
</file>